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9" autoAdjust="0"/>
    <p:restoredTop sz="94660"/>
  </p:normalViewPr>
  <p:slideViewPr>
    <p:cSldViewPr snapToGrid="0">
      <p:cViewPr varScale="1">
        <p:scale>
          <a:sx n="65" d="100"/>
          <a:sy n="65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A498-005D-EF7C-379F-C8A0CFE2B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62051-479B-76F6-1DEE-C898CE4B6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01266-73C7-E9B4-75CC-EB99B86D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8ACE6-938C-4463-533D-E1CC3E42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C4FEC-9298-D6EC-307D-E750E95B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208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A12A-B51F-37DB-F649-EF218334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EF84-CFE6-A8F9-271C-44E2C2933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7E468-7DC9-B677-0BFA-BDDE8B63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80224-2A16-0381-E6CD-D6247014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F37E5-666C-EB76-8CD9-94088A61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8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175F-E3A3-68DB-B311-CDC3397E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83B64-82DD-B1B6-E23B-0CEF0435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4D13C-3468-82FC-BC08-3FD3B3B9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6A99F-4D5A-A694-2A9C-497FC5A7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9B434-A637-0E78-5131-31C9EABB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94FA-45F6-6206-EFEA-0BAC28FA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E7CAD-38C0-ECE9-DCF8-A57219D50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D28FC-0496-C068-248A-B63E379C3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0619C-69DF-AED7-2257-A7FCA1C9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CF4C3-C8FA-D43D-1CA8-36872376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4DA43-FDF1-F564-B4E6-7156D3A1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63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8F90-6BAD-93BA-8747-9B480397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422E9-170D-4D47-B154-0F7AE9EBC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59B7E-80D9-BC04-2BBE-D3B77DC0B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3F57C-2FD0-FD28-B5CC-7DDD52185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A8BC2-23C7-2BBA-1E85-E2118E2EF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FA86C4-4E40-02F5-77C7-22C09C4C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69EA7-9FE7-4174-10D2-98478117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DCBFA-CED3-4C90-8FDF-205B6EBE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178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197A-A226-0353-3C0D-19D01B986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DB1BE-023F-F210-AD61-789111234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C2DD6-6661-7BF6-2510-AE49B459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68FD-264A-14D5-77E6-94A0F982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53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916D3-EB8A-B3D5-11BA-5FF1C696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947DE9-D2C9-D4E5-03D1-F18E201B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EB211-0B2B-B377-59EC-FC14D6D7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87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629B-4180-5F3A-44AF-0D64166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07F05-0A15-5CE0-33F9-09BA7DDFC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4F7C8-6E2C-FA42-81F1-BE6664597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24DA7-56C3-BF16-9284-F947125F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C672-ACEE-3F04-A73D-D3236651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5AF3D-5006-A924-3EE1-E54772C5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10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F75E-C28D-AD6B-AED2-BE9200A5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8C955-764E-5C00-0B82-B04C9AA5C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92A02-27EC-E31F-1BEC-117FD4BBF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8A515-05FC-7E15-ECBA-B028266A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CDE9A-7C58-DB0F-9C5B-2C68A528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8858B-0D0F-CE6D-DC94-ED4BF54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8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CC21-828B-7101-25C6-C15042B8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F818F-B050-2B00-980C-B68EAE595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8189B-9BB4-E658-2A6F-639F61A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DB7BD-221F-F0B2-CC79-29A66D2C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C998-9E44-9CFD-2168-3D2A1ADE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83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0CFBC-E32C-DAA3-2270-549C670E9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E0E30-38DB-214A-6124-3942F0A00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F66FF-A6E1-03BA-CED0-C171D0EE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5247D-336F-3641-C7DA-92E62DBF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17291-8DF2-2195-5BD2-CA17F873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76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DB868B-4760-4898-6C2F-97FCE293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30F5D-2429-9AB2-059F-578076593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FAD4E-9BC2-009D-B930-8F573BDB0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2DB80-6555-429A-816F-3E4AF18922E6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FAA12-44DC-E09B-C6A7-4C8BBE846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CC4DD-250B-97A8-1AE0-F87539AA2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9BDFC-E186-4FED-B1DF-C9360F3464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3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1EB1-490A-EBA7-36A0-EED9706489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 Retail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877C8-4049-CD76-C601-EF5932647D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Behaviour &amp; Market Insights</a:t>
            </a:r>
          </a:p>
        </p:txBody>
      </p:sp>
    </p:spTree>
    <p:extLst>
      <p:ext uri="{BB962C8B-B14F-4D97-AF65-F5344CB8AC3E}">
        <p14:creationId xmlns:p14="http://schemas.microsoft.com/office/powerpoint/2010/main" val="67486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DEEE-190B-3BE9-AE5E-DDC574AA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FE0B7-F79F-F4BE-2E45-06AED3746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Understand customer purchasing behaviour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Identify: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Key customers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Popular products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Differences across countries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Goal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Drive business growth using data insights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754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3D64-84FA-4836-0DD0-6EC6F650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1288E-A60B-0365-5519-ACDF4F558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45" y="1628519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500,000+ transactions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Key variables: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Customer ID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Product description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Quantity &amp; price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Country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Large, rich dataset for behavioural analysis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500,000+ transactions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Key variables: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Customer ID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Product description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Quantity &amp; price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Country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Large, rich dataset for behavioural analysis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9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0BDB-01BD-2CFF-BECE-1A04140E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BFAFC-9439-F11A-4BEC-78AFD022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Created: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TOTAL_SALES = Quantity × Unit Price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Used to measure revenue and customer value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02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0318-CE06-7C00-94DA-C3EE40B9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095EB-1877-3325-ECF6-43CD3955A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Top products: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Home décor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Gift items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Common words: </a:t>
            </a:r>
          </a:p>
          <a:p>
            <a:pPr lvl="1"/>
            <a:r>
              <a:rPr lang="en-GB" sz="2800" i="1" dirty="0">
                <a:latin typeface="Arial" panose="020B0604020202020204" pitchFamily="34" charset="0"/>
                <a:cs typeface="Arial" panose="020B0604020202020204" pitchFamily="34" charset="0"/>
              </a:rPr>
              <a:t>Vintage, Heart, Set, Pink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Strong demand for decorative and lifestyle products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97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4AA4-C6BB-34AE-7F10-2AB4EDB8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by Country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373173-B5F3-A19A-5124-BC1C0F4EA3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411876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37C705-AC81-13BE-A554-C3D1CCCD1A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UK dominates revenue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Top markets: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Netherlands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EIRE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Germany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France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International markets contribute meaningful revenue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331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A5F0DB-C741-A2DB-6469-538FD799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Customers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50FC84B-FCE2-9926-7993-4D1591F98F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5181600" cy="425370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08DC43-7639-5ACA-A0D6-1754058A7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486275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Small group drives most revenue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Follows Pareto Principle (80/20 rule)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Focus on high-value customers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BEHAVIOUR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High spend markets: </a:t>
            </a:r>
          </a:p>
          <a:p>
            <a:pPr lvl="1"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EIRE </a:t>
            </a:r>
          </a:p>
          <a:p>
            <a:pPr lvl="1"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Netherlands </a:t>
            </a:r>
          </a:p>
          <a:p>
            <a:pPr lvl="1"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Singapore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High volume buyers: </a:t>
            </a:r>
          </a:p>
          <a:p>
            <a:pPr lvl="1"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Netherlands </a:t>
            </a:r>
          </a:p>
          <a:p>
            <a:pPr lvl="1"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EIRE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Some markets behave like wholesale buyers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18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147F-E0FF-4F42-F186-FABF0F66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Non-UK Market Focus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322CFB-6ABA-B187-45C6-FFD17255E8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411876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81B5B-1607-3CB7-052C-9332432A07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Top non-UK markets: </a:t>
            </a:r>
          </a:p>
          <a:p>
            <a:pPr lvl="1"/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Netherlands </a:t>
            </a:r>
          </a:p>
          <a:p>
            <a:pPr lvl="1"/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EIRE </a:t>
            </a:r>
          </a:p>
          <a:p>
            <a:pPr lvl="1"/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Germany </a:t>
            </a:r>
          </a:p>
          <a:p>
            <a:pPr marL="0" indent="0">
              <a:buNone/>
            </a:pPr>
            <a:r>
              <a:rPr lang="en-GB" sz="3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Strong opportunity for international expansion</a:t>
            </a:r>
          </a:p>
          <a:p>
            <a:pPr marL="0" indent="0">
              <a:buNone/>
            </a:pPr>
            <a:endParaRPr lang="en-GB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3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SEGMENT</a:t>
            </a:r>
          </a:p>
          <a:p>
            <a:pPr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High Volume + High Spend → Wholesale markets </a:t>
            </a:r>
          </a:p>
          <a:p>
            <a:pPr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Low Volume + High Spend → Premium markets </a:t>
            </a:r>
          </a:p>
          <a:p>
            <a:pPr>
              <a:lnSpc>
                <a:spcPct val="120000"/>
              </a:lnSpc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Low Volume + Low Spend → Emerging markets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Different strategies needed per market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603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E00F-FAC1-A334-6A23-A6529170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Sensitivity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5DA07-FF34-F9F2-FFD6-0277F2054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High price markets: </a:t>
            </a:r>
          </a:p>
          <a:p>
            <a:pPr lvl="1">
              <a:lnSpc>
                <a:spcPct val="12000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Singapore </a:t>
            </a:r>
          </a:p>
          <a:p>
            <a:pPr lvl="1">
              <a:lnSpc>
                <a:spcPct val="12000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Lebanon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Lower price sensitivity varies by country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Pricing should be market-specific</a:t>
            </a:r>
          </a:p>
        </p:txBody>
      </p:sp>
    </p:spTree>
    <p:extLst>
      <p:ext uri="{BB962C8B-B14F-4D97-AF65-F5344CB8AC3E}">
        <p14:creationId xmlns:p14="http://schemas.microsoft.com/office/powerpoint/2010/main" val="1941174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3307-E83E-FADF-81C0-C67B2FA7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 +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73F39-E5EC-653F-C16C-1D2B7FCDD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UK dominates but hides global opportunities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Few customers drive most revenue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Strong demand for décor products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International markets show growth potential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_____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Growth lies in: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International expansion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Customer-focused strategy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320644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665B-8A00-602D-88CB-2258A2F5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85AA2-5E32-93B2-6E02-06C3A442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Expand into: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Netherlands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EIRE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Singapore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Target high-value customers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Focus on décor &amp; gift products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 country-specific pricing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239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328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Online Retail Analysis</vt:lpstr>
      <vt:lpstr>Business Problem</vt:lpstr>
      <vt:lpstr>Dataset Overview</vt:lpstr>
      <vt:lpstr>Key Metric</vt:lpstr>
      <vt:lpstr>Product Insight</vt:lpstr>
      <vt:lpstr>Sales by Country</vt:lpstr>
      <vt:lpstr>Top Customers</vt:lpstr>
      <vt:lpstr>Non-UK Market Focus</vt:lpstr>
      <vt:lpstr>Price Sensitivity</vt:lpstr>
      <vt:lpstr>Key Insights + 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10</cp:revision>
  <dcterms:created xsi:type="dcterms:W3CDTF">2026-04-09T11:19:17Z</dcterms:created>
  <dcterms:modified xsi:type="dcterms:W3CDTF">2026-04-09T14:04:22Z</dcterms:modified>
</cp:coreProperties>
</file>